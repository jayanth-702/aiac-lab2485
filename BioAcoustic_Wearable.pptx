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2" r:id="rId9"/>
    <p:sldId id="263" r:id="rId10"/>
    <p:sldId id="264" r:id="rId11"/>
    <p:sldId id="267" r:id="rId12"/>
    <p:sldId id="268" r:id="rId13"/>
    <p:sldId id="265" r:id="rId14"/>
    <p:sldId id="269" r:id="rId15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77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20122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176116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441017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856263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137603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807241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081857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16736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490161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761111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64459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734574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6887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4/19/2026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33366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5029200" y="-1371600"/>
            <a:ext cx="6400800" cy="6400800"/>
          </a:xfrm>
          <a:prstGeom prst="ellipse">
            <a:avLst/>
          </a:prstGeom>
          <a:solidFill>
            <a:srgbClr val="0077B6">
              <a:alpha val="12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BIO-ACOUSTIC SENSING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kern="0" spc="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Non-Invasive Gesture Recognition &amp; Haptic Feedback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0" y="2697480"/>
            <a:ext cx="27432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737360" y="2862072"/>
            <a:ext cx="2743200" cy="713232"/>
          </a:xfrm>
          <a:prstGeom prst="rect">
            <a:avLst/>
          </a:prstGeom>
          <a:solidFill>
            <a:srgbClr val="112240"/>
          </a:solidFill>
          <a:ln w="12700">
            <a:solidFill>
              <a:srgbClr val="1E4D7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828800" y="2897093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Mummidi Jayanth-2303A52485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Student, CS &amp; AI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2834640"/>
            <a:ext cx="2743200" cy="713232"/>
          </a:xfrm>
          <a:prstGeom prst="rect">
            <a:avLst/>
          </a:prstGeom>
          <a:solidFill>
            <a:srgbClr val="112240"/>
          </a:solidFill>
          <a:ln w="12700">
            <a:solidFill>
              <a:srgbClr val="1E4D72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3" name="Text 11"/>
          <p:cNvSpPr/>
          <p:nvPr/>
        </p:nvSpPr>
        <p:spPr>
          <a:xfrm>
            <a:off x="4846320" y="2885399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</a:t>
            </a:r>
            <a:r>
              <a:rPr lang="en-US" sz="1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Sakinala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Yagneshwar-2303A52073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Student, CS &amp; AI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737360" y="3749040"/>
            <a:ext cx="2743200" cy="713232"/>
          </a:xfrm>
          <a:prstGeom prst="rect">
            <a:avLst/>
          </a:prstGeom>
          <a:solidFill>
            <a:srgbClr val="112240"/>
          </a:solidFill>
          <a:ln w="12700">
            <a:solidFill>
              <a:srgbClr val="1E4D7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828800" y="3785616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</a:t>
            </a:r>
            <a:r>
              <a:rPr lang="en-US" sz="1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Munigala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Teja-2303A52298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Student, CS &amp; AI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3749040"/>
            <a:ext cx="2743200" cy="713232"/>
          </a:xfrm>
          <a:prstGeom prst="rect">
            <a:avLst/>
          </a:prstGeom>
          <a:solidFill>
            <a:srgbClr val="112240"/>
          </a:solidFill>
          <a:ln w="12700">
            <a:solidFill>
              <a:srgbClr val="1E4D72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7" name="Text 15"/>
          <p:cNvSpPr/>
          <p:nvPr/>
        </p:nvSpPr>
        <p:spPr>
          <a:xfrm>
            <a:off x="4754880" y="3785616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Komurevelly Prudhvi Raj-2303A52349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Student, CS &amp; AI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University, Warangal, Telangana | Department of CS &amp; AI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73152" cy="42291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" y="137160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wearable bio-acoustic sensing system that detects skeletal muscle movements and joint vibrations propagated through human skin using miniaturized MEMS piezoelectric microphones — enabling touchless, screenless gesture recognition for controlling electronic devices.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2834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it Solves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4320" y="3291840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48640" y="32461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Touchscreens are unhygienic in medical/cleanroom settings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3657600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48640" y="36118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Vision-based systems need line-of-sight &amp; raise privacy concerns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4023360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48640" y="39776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EMG wearables are sensitive to electrode placement &amp; consume high power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4389120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48640" y="43434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control fails in noisy or silent environments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1005840"/>
            <a:ext cx="4114800" cy="2286000"/>
          </a:xfrm>
          <a:prstGeom prst="rect">
            <a:avLst/>
          </a:prstGeom>
          <a:solidFill>
            <a:srgbClr val="0A1628"/>
          </a:solidFill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754880" y="118872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00F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92.4%</a:t>
            </a:r>
            <a:endParaRPr lang="en-US" sz="5600" dirty="0"/>
          </a:p>
        </p:txBody>
      </p:sp>
      <p:sp>
        <p:nvSpPr>
          <p:cNvPr id="18" name="Text 16"/>
          <p:cNvSpPr/>
          <p:nvPr/>
        </p:nvSpPr>
        <p:spPr>
          <a:xfrm>
            <a:off x="4754880" y="2103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 Classification Accuracy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54880" y="24688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5 test participants | SVM Classifier | 300 samples/class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3474720"/>
            <a:ext cx="4114800" cy="1554480"/>
          </a:xfrm>
          <a:prstGeom prst="rect">
            <a:avLst/>
          </a:prstGeom>
          <a:solidFill>
            <a:srgbClr val="E8F4F8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846320" y="35204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379476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body-borne acoustic signals (vibrations from muscles, tendons, joints) as the sensing modality — no cameras, no electrodes, no external hardware.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0F1E"/>
          </a:solidFill>
          <a:ln w="12700">
            <a:solidFill>
              <a:srgbClr val="060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206240" cy="1234440"/>
          </a:xfrm>
          <a:prstGeom prst="rect">
            <a:avLst/>
          </a:prstGeom>
          <a:solidFill>
            <a:srgbClr val="112240"/>
          </a:solidFill>
          <a:ln w="12700">
            <a:solidFill>
              <a:srgbClr val="1E4D7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594360" cy="1234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1399032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32688" y="112471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Non-Invasive Sensing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32688" y="1435608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skeletal muscle &amp; joint vibrations through skin using MEMS piezoelectric sensors — no electrodes or skin adhesives required.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00600" y="1051560"/>
            <a:ext cx="4206240" cy="1234440"/>
          </a:xfrm>
          <a:prstGeom prst="rect">
            <a:avLst/>
          </a:prstGeom>
          <a:solidFill>
            <a:srgbClr val="112240"/>
          </a:solidFill>
          <a:ln w="12700">
            <a:solidFill>
              <a:srgbClr val="1E4D7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800600" y="1051560"/>
            <a:ext cx="594360" cy="1234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800600" y="1399032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58968" y="112471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Gesture Recognition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58968" y="1435608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10+ hand/wrist gestures with ≥90% accuracy using on-device CNN or SVM classifier with STFT/MFCC feature extraction.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404872"/>
            <a:ext cx="4206240" cy="1234440"/>
          </a:xfrm>
          <a:prstGeom prst="rect">
            <a:avLst/>
          </a:prstGeom>
          <a:solidFill>
            <a:srgbClr val="112240"/>
          </a:solidFill>
          <a:ln w="12700">
            <a:solidFill>
              <a:srgbClr val="1E4D7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74320" y="2404872"/>
            <a:ext cx="594360" cy="1234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74320" y="2752344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32688" y="247802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Closed-Loop Haptic Feedback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32688" y="278892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tactile confirmation to users via LRA/ERM actuators, completing the interaction loop without visual displays.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00600" y="2404872"/>
            <a:ext cx="4206240" cy="1234440"/>
          </a:xfrm>
          <a:prstGeom prst="rect">
            <a:avLst/>
          </a:prstGeom>
          <a:solidFill>
            <a:srgbClr val="112240"/>
          </a:solidFill>
          <a:ln w="12700">
            <a:solidFill>
              <a:srgbClr val="1E4D7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800600" y="2404872"/>
            <a:ext cx="594360" cy="1234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800600" y="2752344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58968" y="247802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Privacy-Preserving HMI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58968" y="278892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 entirely from body-borne signals — no cameras, no external sensors, no cloud dependency for inference.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3758184"/>
            <a:ext cx="4206240" cy="1234440"/>
          </a:xfrm>
          <a:prstGeom prst="rect">
            <a:avLst/>
          </a:prstGeom>
          <a:solidFill>
            <a:srgbClr val="112240"/>
          </a:solidFill>
          <a:ln w="12700">
            <a:solidFill>
              <a:srgbClr val="1E4D7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274320" y="3758184"/>
            <a:ext cx="594360" cy="1234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274320" y="4105656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32688" y="383133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&amp; Inclusivity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32688" y="4142232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gesture-based control for individuals with motor disabilities, amputees, or tremors — a universal, adaptable interface.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00600" y="3758184"/>
            <a:ext cx="4206240" cy="1234440"/>
          </a:xfrm>
          <a:prstGeom prst="rect">
            <a:avLst/>
          </a:prstGeom>
          <a:solidFill>
            <a:srgbClr val="112240"/>
          </a:solidFill>
          <a:ln w="12700">
            <a:solidFill>
              <a:srgbClr val="1E4D7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800600" y="3758184"/>
            <a:ext cx="594360" cy="1234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800600" y="4105656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458968" y="383133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Low-Power Wearable Design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58968" y="4142232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 ≥12 hours continuous operation with a 200–400 mAh LiPo battery using passive acoustic sensing and TinyML inference.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 from this technology?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2880" y="1051560"/>
            <a:ext cx="205740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77B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82880" y="1051560"/>
            <a:ext cx="2057400" cy="41148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28600" y="10972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Persons with Disabilities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1508760"/>
            <a:ext cx="18745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Amputees, motor-impaired individuals, and those with tremors gain accessible, electrode-free gesture control.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95728" y="1051560"/>
            <a:ext cx="205740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95728" y="1051560"/>
            <a:ext cx="2057400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441448" y="10972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AR/VR Users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87168" y="1508760"/>
            <a:ext cx="18745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Silent, peripheral-free hand/finger input for immersive environments without bulky controllers.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08576" y="1051560"/>
            <a:ext cx="205740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897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608576" y="1051560"/>
            <a:ext cx="2057400" cy="4114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654296" y="10972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Professionals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00016" y="1508760"/>
            <a:ext cx="18745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Contactless patient interface in operating theatres and sterile zones — hygienic and non-intrusive.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21424" y="1051560"/>
            <a:ext cx="205740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7B1FA2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821424" y="1051560"/>
            <a:ext cx="2057400" cy="41148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867144" y="10972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Workers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912864" y="1508760"/>
            <a:ext cx="18745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Hands-free machinery control in hazardous, noisy, or cleanroom environments.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2880" y="2971800"/>
            <a:ext cx="205740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E6510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182880" y="2971800"/>
            <a:ext cx="2057400" cy="4114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228600" y="30175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Electronics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4320" y="3429000"/>
            <a:ext cx="18745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Wristband or glove-form wearables to control smartphones, TVs, and IoT devices silently.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395728" y="2971800"/>
            <a:ext cx="205740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37474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2395728" y="2971800"/>
            <a:ext cx="2057400" cy="411480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441448" y="30175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Military &amp; Defence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487168" y="3429000"/>
            <a:ext cx="18745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Silent, covert HMI for field operatives requiring hands-free communication without sound.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08576" y="2971800"/>
            <a:ext cx="205740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AD1457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608576" y="2971800"/>
            <a:ext cx="2057400" cy="411480"/>
          </a:xfrm>
          <a:prstGeom prst="rect">
            <a:avLst/>
          </a:prstGeom>
          <a:solidFill>
            <a:srgbClr val="AD1457"/>
          </a:solidFill>
          <a:ln w="12700">
            <a:solidFill>
              <a:srgbClr val="AD14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654296" y="30175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Prosthetics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00016" y="3429000"/>
            <a:ext cx="18745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detection using residual limb muscle sounds to drive prosthetic limb actuators.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821424" y="2971800"/>
            <a:ext cx="205740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D32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6821424" y="2971800"/>
            <a:ext cx="2057400" cy="4114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867144" y="30175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Researchers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912864" y="3429000"/>
            <a:ext cx="18745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health monitoring by analyzing acoustic emissions indicative of cartilage degeneration.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0F1E"/>
          </a:solidFill>
          <a:ln w="12700">
            <a:solidFill>
              <a:srgbClr val="060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LANGUAGES, TOOLS &amp; SOFTWARE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4297680" cy="1920240"/>
          </a:xfrm>
          <a:prstGeom prst="rect">
            <a:avLst/>
          </a:prstGeom>
          <a:solidFill>
            <a:srgbClr val="112240"/>
          </a:solidFill>
          <a:ln w="12700">
            <a:solidFill>
              <a:srgbClr val="1E4D7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429768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20040" y="104241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Languages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140817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3.x</a:t>
            </a:r>
            <a:r>
              <a:rPr lang="en-US" sz="105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ML model training, signal processing pipeline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20040" y="179222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C/C++</a:t>
            </a:r>
            <a:r>
              <a:rPr lang="en-US" sz="105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Embedded firmware on ARM Cortex-M MCU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0040" y="217627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JavaScript/Node.js</a:t>
            </a:r>
            <a:r>
              <a:rPr lang="en-US" sz="105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Web dashboard &amp; BLE interface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00600" y="1005840"/>
            <a:ext cx="4297680" cy="1920240"/>
          </a:xfrm>
          <a:prstGeom prst="rect">
            <a:avLst/>
          </a:prstGeom>
          <a:solidFill>
            <a:srgbClr val="112240"/>
          </a:solidFill>
          <a:ln w="12700">
            <a:solidFill>
              <a:srgbClr val="1E4D7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800600" y="1005840"/>
            <a:ext cx="4297680" cy="347472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892040" y="104241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&amp; Signal Processing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140817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Lite / TinyML</a:t>
            </a:r>
            <a:r>
              <a:rPr lang="en-US" sz="105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On-device CNN inference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92040" y="179222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r>
              <a:rPr lang="en-US" sz="105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SVM classifier training &amp; evaluation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92040" y="217627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/ SciPy</a:t>
            </a:r>
            <a:r>
              <a:rPr lang="en-US" sz="105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STFT, MFCC, bandpass filter implementation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92040" y="25603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Librosa</a:t>
            </a:r>
            <a:r>
              <a:rPr lang="en-US" sz="105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Audio/acoustic feature extraction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28600" y="3063240"/>
            <a:ext cx="4297680" cy="1920240"/>
          </a:xfrm>
          <a:prstGeom prst="rect">
            <a:avLst/>
          </a:prstGeom>
          <a:solidFill>
            <a:srgbClr val="112240"/>
          </a:solidFill>
          <a:ln w="12700">
            <a:solidFill>
              <a:srgbClr val="1E4D7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228600" y="3063240"/>
            <a:ext cx="4297680" cy="347472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20040" y="309981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&amp; Embedded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0040" y="346557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STM32 (ARM Cortex-M4F)</a:t>
            </a:r>
            <a:r>
              <a:rPr lang="en-US" sz="105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MCU with DSP core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20040" y="384962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MEMS Piezoelectric Sensors</a:t>
            </a:r>
            <a:r>
              <a:rPr lang="en-US" sz="105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Acoustic signal acquisition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20040" y="423367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DRV2605L</a:t>
            </a:r>
            <a:r>
              <a:rPr lang="en-US" sz="105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Haptic feedback driver IC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20040" y="46177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 5.0 Module</a:t>
            </a:r>
            <a:r>
              <a:rPr lang="en-US" sz="105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Wireless data transmission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00600" y="3063240"/>
            <a:ext cx="4297680" cy="1920240"/>
          </a:xfrm>
          <a:prstGeom prst="rect">
            <a:avLst/>
          </a:prstGeom>
          <a:solidFill>
            <a:srgbClr val="112240"/>
          </a:solidFill>
          <a:ln w="12700">
            <a:solidFill>
              <a:srgbClr val="1E4D7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800600" y="3063240"/>
            <a:ext cx="4297680" cy="347472"/>
          </a:xfrm>
          <a:prstGeom prst="rect">
            <a:avLst/>
          </a:prstGeom>
          <a:solidFill>
            <a:srgbClr val="FDCB6E"/>
          </a:solidFill>
          <a:ln w="12700">
            <a:solidFill>
              <a:srgbClr val="FDCB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892040" y="309981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Tools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92040" y="346557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DC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Keil MDK / STM32CubeIDE</a:t>
            </a:r>
            <a:r>
              <a:rPr lang="en-US" sz="105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Embedded IDE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92040" y="384962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DC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</a:t>
            </a:r>
            <a:r>
              <a:rPr lang="en-US" sz="105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Model training &amp; visualization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92040" y="423367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DC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Impulse</a:t>
            </a:r>
            <a:r>
              <a:rPr lang="en-US" sz="105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TinyML pipeline &amp; deployment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92040" y="46177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DC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IDE</a:t>
            </a:r>
            <a:r>
              <a:rPr lang="en-US" sz="105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Rapid prototyping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PROMPTS USED TO GENERATE CODES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82880" y="987552"/>
            <a:ext cx="8778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B6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82880" y="987552"/>
            <a:ext cx="457200" cy="74980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82880" y="11704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13232" y="10241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[ChatGPT / Claude]  Signal acquisition &amp; pre-processing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13232" y="1289304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"Write a Python script to read MEMS sensor data from a serial port, apply a Butterworth bandpass filter (10-2000 Hz), and output the filtered signal in real time."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2880" y="1810512"/>
            <a:ext cx="8778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B6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82880" y="1810512"/>
            <a:ext cx="457200" cy="74980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82880" y="19933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13232" y="184708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[ChatGPT / Copilot]  Feature extraction module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13232" y="2112264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"Generate Python code to extract MFCC features (13 coefficients) from a sliding window (50ms, 25ms overlap) of audio/acoustic data using librosa and prepare feature vectors for SVM classification."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82880" y="2633472"/>
            <a:ext cx="8778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B6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182880" y="2633472"/>
            <a:ext cx="457200" cy="74980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82880" y="28163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13232" y="267004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[ChatGPT / Claude]  ML classifier training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13232" y="2935224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"Write a Python script to train an SVM classifier with RBF kernel on gesture MFCC feature vectors, evaluate accuracy, and export the trained model using joblib for embedded deployment."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82880" y="3456432"/>
            <a:ext cx="8778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B6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182880" y="3456432"/>
            <a:ext cx="457200" cy="74980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182880" y="363931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13232" y="34930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[GitHub Copilot]  Embedded firmware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13232" y="3758184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"Write C++ code for STM32 ARM Cortex-M4 to receive ADC samples at 8kHz, apply a fixed-point bandpass filter, compute MFCC features, and run SVM inference to output gesture class via UART."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82880" y="4279392"/>
            <a:ext cx="8778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B6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182880" y="4279392"/>
            <a:ext cx="457200" cy="74980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182880" y="44622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13232" y="43159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[ChatGPT]  BLE &amp; haptic feedback control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13232" y="4581144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"Create a Python script using the BLE library to receive gesture classification results wirelessly from an STM32 device and trigger haptic feedback patterns based on gesture class (pinch, swipe, fist)."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0F1E"/>
          </a:solidFill>
          <a:ln w="12700">
            <a:solidFill>
              <a:srgbClr val="060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PROMPTS USED TO GENERATE CODES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498080" y="182880"/>
            <a:ext cx="137160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498080" y="18288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/ 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" y="914400"/>
            <a:ext cx="8778240" cy="731520"/>
          </a:xfrm>
          <a:prstGeom prst="rect">
            <a:avLst/>
          </a:prstGeom>
          <a:solidFill>
            <a:srgbClr val="112240"/>
          </a:solidFill>
          <a:ln w="12700">
            <a:solidFill>
              <a:srgbClr val="1E4D7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82880" y="914400"/>
            <a:ext cx="457200" cy="7315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82880" y="109728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3232" y="96012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[ChatGPT]  Dataset collection &amp; preprocessing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13232" y="1216152"/>
            <a:ext cx="8046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"Write a Python script to collect labelled gesture training data from a MEMS sensor via serial port, store samples as CSV with gesture class labels, and split into train/test sets for model training."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82880" y="1719072"/>
            <a:ext cx="8778240" cy="731520"/>
          </a:xfrm>
          <a:prstGeom prst="rect">
            <a:avLst/>
          </a:prstGeom>
          <a:solidFill>
            <a:srgbClr val="112240"/>
          </a:solidFill>
          <a:ln w="12700">
            <a:solidFill>
              <a:srgbClr val="1E4D7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182880" y="1719072"/>
            <a:ext cx="457200" cy="7315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82880" y="190195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P7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13232" y="176479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[GitHub Copilot]  TinyML model conversion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13232" y="2020824"/>
            <a:ext cx="8046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"Generate a TensorFlow Lite model conversion script that takes a trained Keras CNN gesture classifier and exports it as a quantized .tflite model suitable for deployment on an ARM Cortex-M4 microcontroller."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82880" y="2523744"/>
            <a:ext cx="8778240" cy="731520"/>
          </a:xfrm>
          <a:prstGeom prst="rect">
            <a:avLst/>
          </a:prstGeom>
          <a:solidFill>
            <a:srgbClr val="112240"/>
          </a:solidFill>
          <a:ln w="12700">
            <a:solidFill>
              <a:srgbClr val="1E4D7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182880" y="2523744"/>
            <a:ext cx="457200" cy="7315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182880" y="270662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P8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13232" y="256946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[Claude AI]  Web dashboard front-end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13232" y="2825496"/>
            <a:ext cx="8046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"Create a React.js web dashboard component that connects to a BLE wearable device, displays live gesture classification results, confidence scores, and gesture event history in a real-time updating table."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82880" y="3328416"/>
            <a:ext cx="8778240" cy="731520"/>
          </a:xfrm>
          <a:prstGeom prst="rect">
            <a:avLst/>
          </a:prstGeom>
          <a:solidFill>
            <a:srgbClr val="112240"/>
          </a:solidFill>
          <a:ln w="12700">
            <a:solidFill>
              <a:srgbClr val="1E4D7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182880" y="3328416"/>
            <a:ext cx="457200" cy="7315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182880" y="351129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13232" y="337413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[ChatGPT]  Model evaluation &amp; visualization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13232" y="3630168"/>
            <a:ext cx="8046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"Write Python code to evaluate gesture classifier performance — generate a confusion matrix, classification report (precision, recall, F1 per gesture class), and plot accuracy vs training samples graph using matplotlib."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82880" y="4133088"/>
            <a:ext cx="8778240" cy="731520"/>
          </a:xfrm>
          <a:prstGeom prst="rect">
            <a:avLst/>
          </a:prstGeom>
          <a:solidFill>
            <a:srgbClr val="112240"/>
          </a:solidFill>
          <a:ln w="12700">
            <a:solidFill>
              <a:srgbClr val="1E4D7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182880" y="4133088"/>
            <a:ext cx="457200" cy="7315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182880" y="431596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P10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13232" y="41788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[Claude AI]  Haptic driver firmware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13232" y="4434840"/>
            <a:ext cx="8046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"Generate C code for STM32 to control a DRV2605L haptic driver IC over I2C — implement three distinct vibration patterns (short buzz for success, double-pulse for error, long rumble for system idle) triggered by gesture class output."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0F1E"/>
          </a:solidFill>
          <a:ln w="12700">
            <a:solidFill>
              <a:srgbClr val="060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WORKFLOW FLOWCHART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078992" cy="3474720"/>
          </a:xfrm>
          <a:prstGeom prst="rect">
            <a:avLst/>
          </a:prstGeom>
          <a:solidFill>
            <a:srgbClr val="112240"/>
          </a:solidFill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078992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978408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12064" y="1417320"/>
            <a:ext cx="96926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 INITIATION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12064" y="2560320"/>
            <a:ext cx="96926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performs hand/wrist gesture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545336" y="2606040"/>
            <a:ext cx="109728" cy="54864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664208" y="960120"/>
            <a:ext cx="1078992" cy="3474720"/>
          </a:xfrm>
          <a:prstGeom prst="rect">
            <a:avLst/>
          </a:prstGeom>
          <a:solidFill>
            <a:srgbClr val="112240"/>
          </a:solidFill>
          <a:ln w="2540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664208" y="960120"/>
            <a:ext cx="1078992" cy="411480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664208" y="978408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719072" y="1417320"/>
            <a:ext cx="96926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BIO-ACOUSTIC ACQUISITION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719072" y="2560320"/>
            <a:ext cx="96926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MEMS piezoelectric sensors capture vibrations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52344" y="2606040"/>
            <a:ext cx="109728" cy="54864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871216" y="960120"/>
            <a:ext cx="1078992" cy="3474720"/>
          </a:xfrm>
          <a:prstGeom prst="rect">
            <a:avLst/>
          </a:prstGeom>
          <a:solidFill>
            <a:srgbClr val="112240"/>
          </a:solidFill>
          <a:ln w="25400">
            <a:solidFill>
              <a:srgbClr val="6C5C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2871216" y="960120"/>
            <a:ext cx="1078992" cy="411480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2871216" y="978408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926080" y="1417320"/>
            <a:ext cx="96926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CONDITIONING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926080" y="2560320"/>
            <a:ext cx="96926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Amplify → Bandpass filter (10–2000 Hz) → 16-bit ADC @ 8kHz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959352" y="2606040"/>
            <a:ext cx="109728" cy="54864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078224" y="960120"/>
            <a:ext cx="1078992" cy="3474720"/>
          </a:xfrm>
          <a:prstGeom prst="rect">
            <a:avLst/>
          </a:prstGeom>
          <a:solidFill>
            <a:srgbClr val="112240"/>
          </a:solidFill>
          <a:ln w="25400">
            <a:solidFill>
              <a:srgbClr val="FDCB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078224" y="960120"/>
            <a:ext cx="1078992" cy="411480"/>
          </a:xfrm>
          <a:prstGeom prst="rect">
            <a:avLst/>
          </a:prstGeom>
          <a:solidFill>
            <a:srgbClr val="FDCB6E"/>
          </a:solidFill>
          <a:ln w="12700">
            <a:solidFill>
              <a:srgbClr val="FDCB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078224" y="978408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133088" y="1417320"/>
            <a:ext cx="96926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DC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133088" y="2560320"/>
            <a:ext cx="96926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STFT / MFCC (13 coefficients, 50ms window)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166360" y="2606040"/>
            <a:ext cx="109728" cy="54864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5285232" y="960120"/>
            <a:ext cx="1078992" cy="3474720"/>
          </a:xfrm>
          <a:prstGeom prst="rect">
            <a:avLst/>
          </a:prstGeom>
          <a:solidFill>
            <a:srgbClr val="112240"/>
          </a:solidFill>
          <a:ln w="25400">
            <a:solidFill>
              <a:srgbClr val="E170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5285232" y="960120"/>
            <a:ext cx="1078992" cy="411480"/>
          </a:xfrm>
          <a:prstGeom prst="rect">
            <a:avLst/>
          </a:prstGeom>
          <a:solidFill>
            <a:srgbClr val="E17055"/>
          </a:solidFill>
          <a:ln w="12700">
            <a:solidFill>
              <a:srgbClr val="E170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285232" y="978408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340096" y="1417320"/>
            <a:ext cx="96926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1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CLASSIFICATION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40096" y="2560320"/>
            <a:ext cx="96926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or SVM → Gesture class + confidence score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373368" y="2606040"/>
            <a:ext cx="109728" cy="54864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6492240" y="960120"/>
            <a:ext cx="1078992" cy="3474720"/>
          </a:xfrm>
          <a:prstGeom prst="rect">
            <a:avLst/>
          </a:prstGeom>
          <a:solidFill>
            <a:srgbClr val="112240"/>
          </a:solidFill>
          <a:ln w="25400">
            <a:solidFill>
              <a:srgbClr val="FD79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6492240" y="960120"/>
            <a:ext cx="1078992" cy="411480"/>
          </a:xfrm>
          <a:prstGeom prst="rect">
            <a:avLst/>
          </a:prstGeom>
          <a:solidFill>
            <a:srgbClr val="FD79A8"/>
          </a:solidFill>
          <a:ln w="12700">
            <a:solidFill>
              <a:srgbClr val="FD79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6492240" y="978408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6547104" y="1417320"/>
            <a:ext cx="96926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D7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COMMAND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547104" y="2560320"/>
            <a:ext cx="96926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 5.0 transmits command to connected device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580376" y="2606040"/>
            <a:ext cx="109728" cy="54864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7699248" y="960120"/>
            <a:ext cx="1078992" cy="3474720"/>
          </a:xfrm>
          <a:prstGeom prst="rect">
            <a:avLst/>
          </a:prstGeom>
          <a:solidFill>
            <a:srgbClr val="112240"/>
          </a:solidFill>
          <a:ln w="25400">
            <a:solidFill>
              <a:srgbClr val="00CE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7699248" y="960120"/>
            <a:ext cx="1078992" cy="411480"/>
          </a:xfrm>
          <a:prstGeom prst="rect">
            <a:avLst/>
          </a:prstGeom>
          <a:solidFill>
            <a:srgbClr val="00CEC9"/>
          </a:solidFill>
          <a:ln w="12700">
            <a:solidFill>
              <a:srgbClr val="00CE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7699248" y="978408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7754112" y="1417320"/>
            <a:ext cx="96926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HAPTIC FEEDBACK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754112" y="2560320"/>
            <a:ext cx="96926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LRA/ERM actuator delivers tactile confirmation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Flow: Gesture → Sensing → Processing → AI Classification → Command → Feedback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APPLICATION 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5303520" cy="3931920"/>
          </a:xfrm>
          <a:prstGeom prst="rect">
            <a:avLst/>
          </a:prstGeom>
          <a:solidFill>
            <a:srgbClr val="1A1A2E"/>
          </a:solidFill>
          <a:ln w="25400">
            <a:solidFill>
              <a:srgbClr val="0077B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5303520" cy="320040"/>
          </a:xfrm>
          <a:prstGeom prst="rect">
            <a:avLst/>
          </a:prstGeom>
          <a:solidFill>
            <a:srgbClr val="0D0D1E"/>
          </a:solidFill>
          <a:ln w="12700">
            <a:solidFill>
              <a:srgbClr val="0D0D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11480" y="1024128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66928" y="1024128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722376" y="1024128"/>
            <a:ext cx="109728" cy="109728"/>
          </a:xfrm>
          <a:prstGeom prst="ellipse">
            <a:avLst/>
          </a:prstGeom>
          <a:solidFill>
            <a:srgbClr val="28CA41"/>
          </a:solidFill>
          <a:ln w="12700">
            <a:solidFill>
              <a:srgbClr val="28CA4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914400" y="98755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BioAcoustic Gesture Dashboard  |  localhost:3000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353312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Bio-Acoustic Gesture Dashboard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11480" y="1755648"/>
            <a:ext cx="1554480" cy="822960"/>
          </a:xfrm>
          <a:prstGeom prst="rect">
            <a:avLst/>
          </a:prstGeom>
          <a:solidFill>
            <a:srgbClr val="112240"/>
          </a:solidFill>
          <a:ln w="12700">
            <a:solidFill>
              <a:srgbClr val="00F5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84632" y="1773936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4632" y="2011680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F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PINCH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130552" y="1755648"/>
            <a:ext cx="1554480" cy="822960"/>
          </a:xfrm>
          <a:prstGeom prst="rect">
            <a:avLst/>
          </a:prstGeom>
          <a:solidFill>
            <a:srgbClr val="112240"/>
          </a:solidFill>
          <a:ln w="12700">
            <a:solidFill>
              <a:srgbClr val="6C5C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2203704" y="1773936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203704" y="2011680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92.4%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849624" y="1755648"/>
            <a:ext cx="1554480" cy="82296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922776" y="1773936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922776" y="2011680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11480" y="2697480"/>
            <a:ext cx="5029200" cy="1051560"/>
          </a:xfrm>
          <a:prstGeom prst="rect">
            <a:avLst/>
          </a:prstGeom>
          <a:solidFill>
            <a:srgbClr val="112240"/>
          </a:solidFill>
          <a:ln w="12700">
            <a:solidFill>
              <a:srgbClr val="1E4D7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02920" y="27249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Waveform (Live)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3163824"/>
            <a:ext cx="164592" cy="106985"/>
          </a:xfrm>
          <a:prstGeom prst="rect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813816" y="3086100"/>
            <a:ext cx="164592" cy="208026"/>
          </a:xfrm>
          <a:prstGeom prst="rect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1124712" y="2994660"/>
            <a:ext cx="164592" cy="326898"/>
          </a:xfrm>
          <a:prstGeom prst="rect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1435608" y="2926080"/>
            <a:ext cx="164592" cy="416052"/>
          </a:xfrm>
          <a:prstGeom prst="rect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746504" y="3017520"/>
            <a:ext cx="164592" cy="297180"/>
          </a:xfrm>
          <a:prstGeom prst="rect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2057400" y="3108960"/>
            <a:ext cx="164592" cy="178308"/>
          </a:xfrm>
          <a:prstGeom prst="rect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2368296" y="2971800"/>
            <a:ext cx="164592" cy="356616"/>
          </a:xfrm>
          <a:prstGeom prst="rect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2679192" y="2880360"/>
            <a:ext cx="164592" cy="475488"/>
          </a:xfrm>
          <a:prstGeom prst="rect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2990088" y="3040380"/>
            <a:ext cx="164592" cy="267462"/>
          </a:xfrm>
          <a:prstGeom prst="rect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300984" y="3131820"/>
            <a:ext cx="164592" cy="148590"/>
          </a:xfrm>
          <a:prstGeom prst="rect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3611880" y="2948940"/>
            <a:ext cx="164592" cy="386334"/>
          </a:xfrm>
          <a:prstGeom prst="rect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3922776" y="3017520"/>
            <a:ext cx="164592" cy="297180"/>
          </a:xfrm>
          <a:prstGeom prst="rect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4233672" y="3108960"/>
            <a:ext cx="164592" cy="178308"/>
          </a:xfrm>
          <a:prstGeom prst="rect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4544568" y="2926080"/>
            <a:ext cx="164592" cy="416052"/>
          </a:xfrm>
          <a:prstGeom prst="rect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4855464" y="3063240"/>
            <a:ext cx="164592" cy="237744"/>
          </a:xfrm>
          <a:prstGeom prst="rect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411480" y="3840480"/>
            <a:ext cx="5029200" cy="868680"/>
          </a:xfrm>
          <a:prstGeom prst="rect">
            <a:avLst/>
          </a:prstGeom>
          <a:solidFill>
            <a:srgbClr val="112240"/>
          </a:solidFill>
          <a:ln w="12700">
            <a:solidFill>
              <a:srgbClr val="1E4D7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502920" y="38679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 Log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413308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F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12:04:32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691640" y="413308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F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PINCH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926080" y="413308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F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92.4%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160520" y="413308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F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 Up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57200" y="4306824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12:04:28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691640" y="4306824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FIST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926080" y="4306824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88.1%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160520" y="4306824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Play/Pause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57200" y="448056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12:04:21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691640" y="448056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926080" y="448056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95.0%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160520" y="448056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Slide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760720" y="10058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Features</a:t>
            </a:r>
            <a:endParaRPr lang="en-US" sz="1500" dirty="0"/>
          </a:p>
        </p:txBody>
      </p:sp>
      <p:sp>
        <p:nvSpPr>
          <p:cNvPr id="52" name="Shape 50"/>
          <p:cNvSpPr/>
          <p:nvPr/>
        </p:nvSpPr>
        <p:spPr>
          <a:xfrm>
            <a:off x="5760720" y="1481328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6035040" y="14447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Waveform Monitor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035040" y="170992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acoustic signal visualization from MEMS sensors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760720" y="2139696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6035040" y="21031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 Classification Panel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6035040" y="236829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detected gesture, confidence score &amp; mapped command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760720" y="2798064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6035040" y="27614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Haptic Feedback Control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6035040" y="302666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vibration pattern intensity and duration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760720" y="3456432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6035040" y="341985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 Device Manager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6035040" y="368503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Pair/unpair wearable, monitor connection status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5760720" y="4114800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6035040" y="407822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Logger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6035040" y="434340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&amp; export gesture logs for ML model retraining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0F1E"/>
          </a:solidFill>
          <a:ln w="12700">
            <a:solidFill>
              <a:srgbClr val="060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PROMPTS GENERATING CODE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4251960" cy="4160520"/>
          </a:xfrm>
          <a:prstGeom prst="rect">
            <a:avLst/>
          </a:prstGeom>
          <a:solidFill>
            <a:srgbClr val="1E1E2E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28600" y="868680"/>
            <a:ext cx="4251960" cy="347472"/>
          </a:xfrm>
          <a:prstGeom prst="rect">
            <a:avLst/>
          </a:prstGeom>
          <a:solidFill>
            <a:srgbClr val="13131E"/>
          </a:solidFill>
          <a:ln w="12700">
            <a:solidFill>
              <a:srgbClr val="1313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38328" y="932688"/>
            <a:ext cx="137160" cy="13716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21208" y="932688"/>
            <a:ext cx="137160" cy="13716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704088" y="932688"/>
            <a:ext cx="137160" cy="137160"/>
          </a:xfrm>
          <a:prstGeom prst="ellipse">
            <a:avLst/>
          </a:prstGeom>
          <a:solidFill>
            <a:srgbClr val="28CA41"/>
          </a:solidFill>
          <a:ln w="12700">
            <a:solidFill>
              <a:srgbClr val="28CA4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941832" y="8869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— Signal Processing Code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1280160"/>
            <a:ext cx="4069080" cy="457200"/>
          </a:xfrm>
          <a:prstGeom prst="rect">
            <a:avLst/>
          </a:prstGeom>
          <a:solidFill>
            <a:srgbClr val="2D2D4E"/>
          </a:solidFill>
          <a:ln w="12700">
            <a:solidFill>
              <a:srgbClr val="5555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93192" y="1298448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A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"Write Python code for Butterworth bandpass filter 10-2000Hz for acoustic gesture data"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1828800"/>
            <a:ext cx="4069080" cy="3108960"/>
          </a:xfrm>
          <a:prstGeom prst="rect">
            <a:avLst/>
          </a:prstGeom>
          <a:solidFill>
            <a:srgbClr val="12121E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93192" y="1901952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scipy.signal import butter, sosfilt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93192" y="2121408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93192" y="2560320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butter_bandpass(lowcut, highcut, fs, order=4):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93192" y="2779776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nyq = 0.5 * fs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93192" y="2999232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low, high = lowcut/nyq, highcut/nyq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93192" y="3218688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sos = butter(order, [low, high], btype='band',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93192" y="3438144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analog=False, output='sos')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93192" y="3657600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sos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93192" y="4096512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apply_filter(data, fs=8000):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93192" y="4315968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sos = butter_bandpass(10, 2000, fs)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93192" y="4535424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sosfilt(sos, data)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754880" y="868680"/>
            <a:ext cx="4251960" cy="4160520"/>
          </a:xfrm>
          <a:prstGeom prst="rect">
            <a:avLst/>
          </a:prstGeom>
          <a:solidFill>
            <a:srgbClr val="1E1E2E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754880" y="868680"/>
            <a:ext cx="4251960" cy="347472"/>
          </a:xfrm>
          <a:prstGeom prst="rect">
            <a:avLst/>
          </a:prstGeom>
          <a:solidFill>
            <a:srgbClr val="13131E"/>
          </a:solidFill>
          <a:ln w="12700">
            <a:solidFill>
              <a:srgbClr val="1313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864608" y="932688"/>
            <a:ext cx="137160" cy="13716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5047488" y="932688"/>
            <a:ext cx="137160" cy="13716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5230368" y="932688"/>
            <a:ext cx="137160" cy="137160"/>
          </a:xfrm>
          <a:prstGeom prst="ellipse">
            <a:avLst/>
          </a:prstGeom>
          <a:solidFill>
            <a:srgbClr val="28CA41"/>
          </a:solidFill>
          <a:ln w="12700">
            <a:solidFill>
              <a:srgbClr val="28CA4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468112" y="8869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 — MFCC Feature Extraction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46320" y="1280160"/>
            <a:ext cx="4069080" cy="457200"/>
          </a:xfrm>
          <a:prstGeom prst="rect">
            <a:avLst/>
          </a:prstGeom>
          <a:solidFill>
            <a:srgbClr val="2D2D4E"/>
          </a:solidFill>
          <a:ln w="12700">
            <a:solidFill>
              <a:srgbClr val="5555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919472" y="1298448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A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"Generate MFCC feature extraction for gesture classification with sliding window"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46320" y="1828800"/>
            <a:ext cx="4069080" cy="3108960"/>
          </a:xfrm>
          <a:prstGeom prst="rect">
            <a:avLst/>
          </a:prstGeom>
          <a:solidFill>
            <a:srgbClr val="12121E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919472" y="1901952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librosa, numpy as np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919472" y="2340864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extract_mfcc_features(signal, sr=8000,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919472" y="2560320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n_mfcc=13, win_len=0.05, hop_len=0.025):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919472" y="2779776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n_fft = int(win_len * sr)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919472" y="2999232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hop = int(hop_len * sr)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919472" y="3218688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mfcc = librosa.feature.mfcc(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919472" y="3438144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y=signal, sr=sr,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919472" y="3657600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n_mfcc=n_mfcc, n_fft=n_fft,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919472" y="3877056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hop_length=hop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919472" y="4096512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919472" y="4315968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np.mean(mfcc.T, axis=0)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0F1E"/>
          </a:solidFill>
          <a:ln w="12700">
            <a:solidFill>
              <a:srgbClr val="060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PROMPTS GENERATING CODE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498080" y="164592"/>
            <a:ext cx="1417320" cy="40233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498080" y="164592"/>
            <a:ext cx="1417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/ 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01168" y="868680"/>
            <a:ext cx="4251960" cy="4224528"/>
          </a:xfrm>
          <a:prstGeom prst="rect">
            <a:avLst/>
          </a:prstGeom>
          <a:solidFill>
            <a:srgbClr val="1E1E2E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01168" y="868680"/>
            <a:ext cx="4251960" cy="347472"/>
          </a:xfrm>
          <a:prstGeom prst="rect">
            <a:avLst/>
          </a:prstGeom>
          <a:solidFill>
            <a:srgbClr val="13131E"/>
          </a:solidFill>
          <a:ln w="12700">
            <a:solidFill>
              <a:srgbClr val="1313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10896" y="941832"/>
            <a:ext cx="137160" cy="13716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93776" y="941832"/>
            <a:ext cx="137160" cy="13716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76656" y="941832"/>
            <a:ext cx="137160" cy="137160"/>
          </a:xfrm>
          <a:prstGeom prst="ellipse">
            <a:avLst/>
          </a:prstGeom>
          <a:solidFill>
            <a:srgbClr val="28CA41"/>
          </a:solidFill>
          <a:ln w="12700">
            <a:solidFill>
              <a:srgbClr val="28CA4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86968" y="88696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— Dataset Collection Script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92608" y="1280160"/>
            <a:ext cx="4069080" cy="566928"/>
          </a:xfrm>
          <a:prstGeom prst="rect">
            <a:avLst/>
          </a:prstGeom>
          <a:solidFill>
            <a:srgbClr val="2D2D4E"/>
          </a:solidFill>
          <a:ln w="12700">
            <a:solidFill>
              <a:srgbClr val="5555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65760" y="1307592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A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P6: "Write a Python script to collect labelled gesture training data from MEMS sensor via serial port, store as CSV with gesture class labels"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92608" y="1920240"/>
            <a:ext cx="4069080" cy="3090672"/>
          </a:xfrm>
          <a:prstGeom prst="rect">
            <a:avLst/>
          </a:prstGeom>
          <a:solidFill>
            <a:srgbClr val="12121E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65760" y="199339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serial, csv, time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220827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datetime import datetime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65760" y="263804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GESTURE_LABELS = ['pinch','fist','swipe',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65760" y="285292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'thumb_up','open_palm']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65760" y="328269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collect_data(gesture, samples=300,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65760" y="349758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port='COM3', baud=115200):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65760" y="371246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ser = serial.Serial(port, baud)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5760" y="392734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rows = []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65760" y="414223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print(f'Collecting {gesture}...')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65760" y="435711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_ in range(samples):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65760" y="457200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line = ser.readline().decode().strip()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65760" y="478688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rows.append(line.split(',') + [gesture])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65760" y="500176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rows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65760" y="543153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open('gesture_data.csv','w') as f: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65760" y="564642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 = csv.writer(f)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65760" y="586130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label in GESTURE_LABELS: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65760" y="60761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data = collect_data(label)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65760" y="629107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w.writerows(data)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727448" y="868680"/>
            <a:ext cx="4251960" cy="4224528"/>
          </a:xfrm>
          <a:prstGeom prst="rect">
            <a:avLst/>
          </a:prstGeom>
          <a:solidFill>
            <a:srgbClr val="1E1E2E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4727448" y="868680"/>
            <a:ext cx="4251960" cy="347472"/>
          </a:xfrm>
          <a:prstGeom prst="rect">
            <a:avLst/>
          </a:prstGeom>
          <a:solidFill>
            <a:srgbClr val="13131E"/>
          </a:solidFill>
          <a:ln w="12700">
            <a:solidFill>
              <a:srgbClr val="1313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4837176" y="941832"/>
            <a:ext cx="137160" cy="13716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20056" y="941832"/>
            <a:ext cx="137160" cy="13716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5202936" y="941832"/>
            <a:ext cx="137160" cy="137160"/>
          </a:xfrm>
          <a:prstGeom prst="ellipse">
            <a:avLst/>
          </a:prstGeom>
          <a:solidFill>
            <a:srgbClr val="28CA41"/>
          </a:solidFill>
          <a:ln w="12700">
            <a:solidFill>
              <a:srgbClr val="28CA4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5413248" y="88696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— TinyML Model Conversion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818888" y="1280160"/>
            <a:ext cx="4069080" cy="566928"/>
          </a:xfrm>
          <a:prstGeom prst="rect">
            <a:avLst/>
          </a:prstGeom>
          <a:solidFill>
            <a:srgbClr val="2D2D4E"/>
          </a:solidFill>
          <a:ln w="12700">
            <a:solidFill>
              <a:srgbClr val="5555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4892040" y="1307592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A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P7: "Generate a TensorFlow Lite conversion script for a trained Keras CNN gesture classifier to deploy on ARM Cortex-M4"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818888" y="1920240"/>
            <a:ext cx="4069080" cy="3090672"/>
          </a:xfrm>
          <a:prstGeom prst="rect">
            <a:avLst/>
          </a:prstGeom>
          <a:solidFill>
            <a:srgbClr val="12121E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4892040" y="199339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tensorflow as tf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892040" y="220827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892040" y="263804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Load trained Keras model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892040" y="285292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tf.keras.models.load_model(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892040" y="306781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'gesture_cnn.h5')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892040" y="349758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Convert to TFLite with INT8 quantization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892040" y="371246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converter = tf.lite.TFLiteConverter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892040" y="392734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.from_keras_model(model)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892040" y="414223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converter.optimizations = [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892040" y="435711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tf.lite.Optimize.DEFAULT]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892040" y="457200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converter.target_spec.supported_ops = [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892040" y="478688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tf.lite.OpsSet.TFLITE_BUILTINS_INT8]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892040" y="521665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tflite_model = converter.convert()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4892040" y="543153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open('gesture_model.tflite','wb')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892040" y="564642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.write(tflite_model)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892040" y="586130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print('Model size:', len(tflite_model),'bytes')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0F1E"/>
          </a:solidFill>
          <a:ln w="12700">
            <a:solidFill>
              <a:srgbClr val="060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PROMPTS GENERATING CODE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498080" y="164592"/>
            <a:ext cx="1417320" cy="40233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498080" y="164592"/>
            <a:ext cx="1417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/ 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01168" y="868680"/>
            <a:ext cx="4251960" cy="4224528"/>
          </a:xfrm>
          <a:prstGeom prst="rect">
            <a:avLst/>
          </a:prstGeom>
          <a:solidFill>
            <a:srgbClr val="1E1E2E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01168" y="868680"/>
            <a:ext cx="4251960" cy="347472"/>
          </a:xfrm>
          <a:prstGeom prst="rect">
            <a:avLst/>
          </a:prstGeom>
          <a:solidFill>
            <a:srgbClr val="13131E"/>
          </a:solidFill>
          <a:ln w="12700">
            <a:solidFill>
              <a:srgbClr val="1313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10896" y="941832"/>
            <a:ext cx="137160" cy="13716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93776" y="941832"/>
            <a:ext cx="137160" cy="13716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76656" y="941832"/>
            <a:ext cx="137160" cy="137160"/>
          </a:xfrm>
          <a:prstGeom prst="ellipse">
            <a:avLst/>
          </a:prstGeom>
          <a:solidFill>
            <a:srgbClr val="28CA41"/>
          </a:solidFill>
          <a:ln w="12700">
            <a:solidFill>
              <a:srgbClr val="28CA4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86968" y="88696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 — React.js BLE Dashboard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92608" y="1280160"/>
            <a:ext cx="4069080" cy="566928"/>
          </a:xfrm>
          <a:prstGeom prst="rect">
            <a:avLst/>
          </a:prstGeom>
          <a:solidFill>
            <a:srgbClr val="2D2D4E"/>
          </a:solidFill>
          <a:ln w="12700">
            <a:solidFill>
              <a:srgbClr val="5555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65760" y="1307592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A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P8: "Create a React.js component that connects to a BLE wearable, displays live gesture results, confidence scores and gesture history"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92608" y="1920240"/>
            <a:ext cx="4069080" cy="3090672"/>
          </a:xfrm>
          <a:prstGeom prst="rect">
            <a:avLst/>
          </a:prstGeom>
          <a:solidFill>
            <a:srgbClr val="12121E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65760" y="199339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useState, useEffect } from 'react';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242316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function GestureDashboard() {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65760" y="263804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[gesture, setGesture] = useState('--');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65760" y="285292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[confidence, setConf] = useState(0);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65760" y="306781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[log, setLog] = useState([]);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65760" y="349758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connectBLE = async () =&gt; {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65760" y="371246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device = await navigator.bluetooth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5760" y="392734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.requestDevice({filters:[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65760" y="414223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{name:'BioAcousticWearable'}]});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65760" y="435711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server = await device.gatt.connect();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65760" y="457200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Subscribe to gesture notifications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65760" y="478688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server.getPrimaryService('gesture-svc')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65760" y="500176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.then(svc =&gt; svc.getCharacteristic('gesture'))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65760" y="521665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.then(ch =&gt; ch.startNotifications())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65760" y="543153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.then(ch =&gt; ch.addEventListener(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65760" y="564642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'characteristicvaluechanged', onGesture));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65760" y="586130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};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65760" y="60761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(&lt;button onClick={connectBLE}&gt;Connect&lt;/button&gt;);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65760" y="629107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727448" y="868680"/>
            <a:ext cx="4251960" cy="4224528"/>
          </a:xfrm>
          <a:prstGeom prst="rect">
            <a:avLst/>
          </a:prstGeom>
          <a:solidFill>
            <a:srgbClr val="1E1E2E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4727448" y="868680"/>
            <a:ext cx="4251960" cy="347472"/>
          </a:xfrm>
          <a:prstGeom prst="rect">
            <a:avLst/>
          </a:prstGeom>
          <a:solidFill>
            <a:srgbClr val="13131E"/>
          </a:solidFill>
          <a:ln w="12700">
            <a:solidFill>
              <a:srgbClr val="1313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4837176" y="941832"/>
            <a:ext cx="137160" cy="13716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5020056" y="941832"/>
            <a:ext cx="137160" cy="13716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5202936" y="941832"/>
            <a:ext cx="137160" cy="137160"/>
          </a:xfrm>
          <a:prstGeom prst="ellipse">
            <a:avLst/>
          </a:prstGeom>
          <a:solidFill>
            <a:srgbClr val="28CA41"/>
          </a:solidFill>
          <a:ln w="12700">
            <a:solidFill>
              <a:srgbClr val="28CA4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5413248" y="88696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 — STM32 Haptic Driver (C Code)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818888" y="1280160"/>
            <a:ext cx="4069080" cy="566928"/>
          </a:xfrm>
          <a:prstGeom prst="rect">
            <a:avLst/>
          </a:prstGeom>
          <a:solidFill>
            <a:srgbClr val="2D2D4E"/>
          </a:solidFill>
          <a:ln w="12700">
            <a:solidFill>
              <a:srgbClr val="5555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892040" y="1307592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A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P10: "Generate C code for STM32 to control DRV2605L haptic driver over I2C with 3 distinct vibration patterns for gesture feedback"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818888" y="1920240"/>
            <a:ext cx="4069080" cy="3090672"/>
          </a:xfrm>
          <a:prstGeom prst="rect">
            <a:avLst/>
          </a:prstGeom>
          <a:solidFill>
            <a:srgbClr val="12121E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4892040" y="199339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'drv2605l.h'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892040" y="220827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'i2c.h'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892040" y="263804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DRV2605_ADDR  0x5A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892040" y="285292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REG_MODE      0x01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892040" y="306781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REG_WAVESEQ1  0x04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892040" y="328269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REG_GO        0x0C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892040" y="371246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haptic_pattern(uint8_t pattern) {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892040" y="392734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Pattern: 1=success, 2=error, 3=idle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892040" y="414223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uint8_t effects[] = {1, 10, 47};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892040" y="435711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I2C_Write(DRV2605_ADDR,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892040" y="457200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REG_WAVESEQ1, effects[pattern-1]);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892040" y="478688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I2C_Write(DRV2605_ADDR, REG_GO, 0x01);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4892040" y="500176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892040" y="543153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gesture_feedback(uint8_t gesture_id) {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892040" y="564642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(gesture_id &gt; 0)       // Recognised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4892040" y="586130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haptic_pattern(1);      // Short buzz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4892040" y="60761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else                      // Error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4892040" y="629107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haptic_pattern(2);      // Double pulse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4892040" y="650595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365760" cy="3657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28600" y="104241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02412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1508760"/>
            <a:ext cx="365760" cy="3657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28600" y="154533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152704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Thalmann, N.M., et al. (2020). 'Gesture Recognition Using Acoustic Sensing on Wearable Devices.' IEEE Transactions on Neural Systems &amp; Rehabilitation Engineering, 28(3), 619-628.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2011680"/>
            <a:ext cx="365760" cy="3657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28600" y="204825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202996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Boyali, A., &amp; Hashimoto, N. (2016). 'Spectral collaborative representation based classification for hand gestures recognition on EMG signals.' Biomedical Signal Processing and Control, 24, 11-18.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2514600"/>
            <a:ext cx="365760" cy="3657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28600" y="255117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253288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Davis, S. &amp; Mermelstein, P. (1980). 'Comparison of Parametric Representations for Monosyllabic Word Recognition in Continuously Spoken Sentences.' IEEE Transactions on ASSP, 28(4), 357-366.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3017520"/>
            <a:ext cx="365760" cy="3657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28600" y="305409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" y="303580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Lite for Microcontrollers. (2024). Google AI Edge. https://ai.google.dev/edge/litert/microcontrollers/overview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8600" y="3520440"/>
            <a:ext cx="365760" cy="3657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228600" y="355701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5800" y="353872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Impulse Documentation. (2024). Building and Deploying Embedded ML Models. https://docs.edgeimpulse.com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28600" y="4023360"/>
            <a:ext cx="365760" cy="3657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228600" y="405993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5800" y="404164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STMicroelectronics. (2023). STM32F4 Series ARM Cortex-M4 with DSP Instruction Set. Application Note AN4127. https://www.st.com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" y="4526280"/>
            <a:ext cx="365760" cy="3657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228600" y="456285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5800" y="454456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Texas Instruments. (2022). DRV2605L Haptic Driver for LRA and ERM with Effect Library and Smart Loop. Datasheet SLOS825E. https://www.ti.com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8006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University, Warangal, Telangana  |  Department of CS &amp; AI  |  2024</a:t>
            </a:r>
            <a:endParaRPr lang="en-US" sz="10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9911B0F-6FA0-B7F3-E38B-56F79328E026}"/>
              </a:ext>
            </a:extLst>
          </p:cNvPr>
          <p:cNvSpPr txBox="1"/>
          <p:nvPr/>
        </p:nvSpPr>
        <p:spPr>
          <a:xfrm>
            <a:off x="622216" y="1029813"/>
            <a:ext cx="80645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chemeClr val="bg1">
                    <a:lumMod val="75000"/>
                    <a:lumOff val="25000"/>
                  </a:schemeClr>
                </a:solidFill>
              </a:rPr>
              <a:t>Akhlaghi, N., et al. (2016). 'Artificial Neural Network Classification of Motor Unit Potentials in Needle EMG and Acoustic Myography.' </a:t>
            </a:r>
            <a:r>
              <a:rPr lang="en-US" sz="1000" i="1" dirty="0">
                <a:solidFill>
                  <a:schemeClr val="bg1">
                    <a:lumMod val="75000"/>
                    <a:lumOff val="25000"/>
                  </a:schemeClr>
                </a:solidFill>
              </a:rPr>
              <a:t>Journal of Neural Engineering</a:t>
            </a:r>
            <a:r>
              <a:rPr lang="en-US" sz="1000" dirty="0">
                <a:solidFill>
                  <a:schemeClr val="bg1">
                    <a:lumMod val="75000"/>
                    <a:lumOff val="25000"/>
                  </a:schemeClr>
                </a:solidFill>
              </a:rPr>
              <a:t>, 13(1), 016003.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73A25D70-4A55-4F72-B9C5-A69CDBF4D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4957100-6D8B-4161-9F2F-C0A949EC8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BD8B065-EE51-4AE2-A94C-86249998FD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51435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6B193B-ED69-A9C2-56EE-F1CF4421A757}"/>
              </a:ext>
            </a:extLst>
          </p:cNvPr>
          <p:cNvSpPr txBox="1"/>
          <p:nvPr/>
        </p:nvSpPr>
        <p:spPr>
          <a:xfrm>
            <a:off x="2528840" y="1306002"/>
            <a:ext cx="4086547" cy="179093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9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8999293-B054-4B57-A26F-D04C2BB113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3672" y="-32502"/>
            <a:ext cx="3872284" cy="1993108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5E505D8A-F41A-450D-A648-E77DF6B8D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E2BD6DCE-6A81-4F34-9958-67B578EA16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C462BE8-CD72-48CF-8A7B-C716D2B99E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1C2CDB70-40F1-4D00-8F17-A532E732EB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61945C4-D997-42F3-B59A-984CF0066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6793706" y="3109732"/>
            <a:ext cx="2356800" cy="2037604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651FE4A-9487-43BE-A388-134535743B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44B0EF3-9992-4B95-8A43-6206B3FC3F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41B1C1F-C2FE-4C47-9D74-ADB9B53F4B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1048177B-A49E-4E24-9007-07A0EDD6A2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9584990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</TotalTime>
  <Words>2573</Words>
  <Application>Microsoft Office PowerPoint</Application>
  <PresentationFormat>On-screen Show (16:9)</PresentationFormat>
  <Paragraphs>312</Paragraphs>
  <Slides>14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Courier New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Bio-Acoustic Sensing Wearable</dc:title>
  <dc:subject>PptxGenJS Presentation</dc:subject>
  <dc:creator>PptxGenJS</dc:creator>
  <cp:lastModifiedBy>MUMMIDI JAYANTH</cp:lastModifiedBy>
  <cp:revision>2</cp:revision>
  <dcterms:created xsi:type="dcterms:W3CDTF">2026-04-19T10:13:47Z</dcterms:created>
  <dcterms:modified xsi:type="dcterms:W3CDTF">2026-04-19T11:14:42Z</dcterms:modified>
</cp:coreProperties>
</file>